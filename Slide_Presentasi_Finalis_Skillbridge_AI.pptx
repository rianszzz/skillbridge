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Selamat pagi Dewan Penguji yang terhormat. Saya mempresentasikan Skillbridge AI, sebuah platform inovatif yang mentransformasi cara kita mengukur kesiapan kerja mahasiswa dari sekadar mengandalkan klaim teks CV menjadi evaluasi objektif berbasis bukti kerja nyata.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Masalahnya sangat nyata: lebih dari 1 juta sarjana menganggur bukan karena kekurangan gelar, tapi karena industri kesulitan memverifikasi kompetensi nyata. CV dan IPK adalah sinyal yang bising. Skillbridge AI hadir untuk menjawab: Apa yang benar-benar bisa dibuktikan dari karya mahasiswa?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Solusi Skillbridge AI adalah siklus pembelajaran tertutup. Kami tidak sekadar memberi angka ranking, tetapi mendiagnosis gap, menyodorkan materi belajar industri resmi, menguji lewat wawancara adaptif, dan mengukur progres revisi.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Dari segi arsitektur, kami mengombinasikan Next.js 16, Supabase PostgreSQL ber-RLS, dan Groq LPU. Kami menggunakan pendekatan multi-model: GPT-OSS-20B untuk teks dan Qwen-27B untuk observasi visual. Yang terpenting: skor akhir dihitung secara matematis di server, bukan halusinasi LLM.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Skillbridge AI tidak dibuat untuk satu jurusan saja. Kami mengintegrasikan 3 bidang sekaligus: Informatika dengan repositori kode, DKV dengan karya visual gambar, dan Bisnis/Pemasaran dengan PDF metrik kampanye. Setiap bidang memiliki Rubrik 1.1 berbobot 1.0 yang transparan.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Pengujian kami bukan sekadar klaim. Kami melakukan 27 run pengujian pada dataset terstandarisasi. Hasilnya: 100% kepatuhan skema, variansi sangat rendah dengan standar deviasi 1.28 poin, MAE terhadap manusia hanya 2.78 poin, dan biaya hanya sekitar Rp 8 per asesmen.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Berikut adalah tampilan antarmuka hasil live di Vercel. Perhatikan bahwa setiap skor memiliki kutipan bukti fisik persis baris kodenya. Ketika kandidat melakukan revisi, sistem memunculkan badge selisih peningkatan +25 delta.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Fitur unggulan lainnya adalah simulasi wawancara adaptif. Pertanyaan wawancara tidak generik, melainkan membidik kelemahan portofolio. Jika kandidat lemah dalam validasi skema, pertanyaan wawancara akan menguji konsep validasi dan arsitektur pengujian.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Keamanan dan etika adalah prioritas mutlak kami. Seluruh 28 skenario audit keamanan lulus 100%. Kami tidak mengeksekusi kode repositori pengguna sama sekali. Dan kami secara jujur menyatakan batasan sistem: ini adalah alat evaluasi indikatif, bukan sertifikasi kepemilikan mutlak.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Sebagai kesimpulan, Skillbridge AI telah menyelesaikan seluruh tahapan prototipe siap uji dengan integritas tinggi. Platform sudah dapat diakses langsung di Vercel. Terima kasih atas perhatian Dewan Penguji, kami siap menjawab pertanyaan.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sp>
        <p:nvSpPr>
          <p:cNvPr id="2" name="Rectangle 1"/>
          <p:cNvSpPr/>
          <p:nvPr/>
        </p:nvSpPr>
        <p:spPr>
          <a:xfrm>
            <a:off x="731520" y="1645920"/>
            <a:ext cx="182880" cy="3108960"/>
          </a:xfrm>
          <a:prstGeom prst="rect">
            <a:avLst/>
          </a:prstGeom>
          <a:solidFill>
            <a:srgbClr val="38BDF8"/>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463040"/>
            <a:ext cx="10332720" cy="3291840"/>
          </a:xfrm>
          <a:prstGeom prst="rect">
            <a:avLst/>
          </a:prstGeom>
          <a:noFill/>
        </p:spPr>
        <p:txBody>
          <a:bodyPr wrap="square">
            <a:spAutoFit/>
          </a:bodyPr>
          <a:lstStyle/>
          <a:p>
            <a:pPr>
              <a:spcAft>
                <a:spcPts val="1000"/>
              </a:spcAft>
              <a:defRPr sz="1300" b="1">
                <a:solidFill>
                  <a:srgbClr val="38BDF8"/>
                </a:solidFill>
              </a:defRPr>
            </a:pPr>
            <a:r>
              <a:t>FINALIS KOMPRES 16 — AI INNOVATION</a:t>
            </a:r>
          </a:p>
          <a:p>
            <a:pPr>
              <a:spcAft>
                <a:spcPts val="800"/>
              </a:spcAft>
              <a:defRPr sz="4400" b="1">
                <a:solidFill>
                  <a:srgbClr val="FFFFFF"/>
                </a:solidFill>
              </a:defRPr>
            </a:pPr>
            <a:r>
              <a:t>SKILLBRIDGE AI</a:t>
            </a:r>
          </a:p>
          <a:p>
            <a:pPr>
              <a:spcAft>
                <a:spcPts val="2400"/>
              </a:spcAft>
              <a:defRPr sz="1600">
                <a:solidFill>
                  <a:srgbClr val="CBD5E1"/>
                </a:solidFill>
              </a:defRPr>
            </a:pPr>
            <a:r>
              <a:t>Sistem Evaluasi Kesiapan Kerja Multi-Bidang Berbasis Large Language Model untuk Penilaian Bukti Nyata dan Rekomendasi Pembelajaran Adaptif</a:t>
            </a:r>
          </a:p>
          <a:p>
            <a:pPr>
              <a:defRPr sz="1200">
                <a:solidFill>
                  <a:srgbClr val="64748B"/>
                </a:solidFill>
              </a:defRPr>
            </a:pPr>
            <a:r>
              <a:t>Universitas Gunadarma • Laboratorium Informatika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0284C7"/>
                </a:solidFill>
              </a:defRPr>
            </a:pPr>
            <a:r>
              <a:t>LATAR BELAKANG &amp; MASALAH</a:t>
            </a:r>
          </a:p>
        </p:txBody>
      </p:sp>
      <p:sp>
        <p:nvSpPr>
          <p:cNvPr id="3" name="TextBox 2"/>
          <p:cNvSpPr txBox="1"/>
          <p:nvPr/>
        </p:nvSpPr>
        <p:spPr>
          <a:xfrm>
            <a:off x="731520" y="685800"/>
            <a:ext cx="10698480" cy="731520"/>
          </a:xfrm>
          <a:prstGeom prst="rect">
            <a:avLst/>
          </a:prstGeom>
          <a:noFill/>
        </p:spPr>
        <p:txBody>
          <a:bodyPr wrap="square">
            <a:spAutoFit/>
          </a:bodyPr>
          <a:lstStyle/>
          <a:p>
            <a:pPr>
              <a:defRPr sz="2400" b="1">
                <a:solidFill>
                  <a:srgbClr val="0F172A"/>
                </a:solidFill>
              </a:defRPr>
            </a:pPr>
            <a:r>
              <a:t>Kesenjangan Antara Ijazah/CV dengan Kebutuhan Nyata Industri</a:t>
            </a:r>
          </a:p>
        </p:txBody>
      </p:sp>
      <p:sp>
        <p:nvSpPr>
          <p:cNvPr id="4" name="Rounded Rectangle 3"/>
          <p:cNvSpPr/>
          <p:nvPr/>
        </p:nvSpPr>
        <p:spPr>
          <a:xfrm>
            <a:off x="731520" y="1828800"/>
            <a:ext cx="3383280" cy="41148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2103120"/>
            <a:ext cx="2834640" cy="3474720"/>
          </a:xfrm>
          <a:prstGeom prst="rect">
            <a:avLst/>
          </a:prstGeom>
          <a:noFill/>
        </p:spPr>
        <p:txBody>
          <a:bodyPr wrap="square">
            <a:spAutoFit/>
          </a:bodyPr>
          <a:lstStyle/>
          <a:p>
            <a:pPr>
              <a:spcAft>
                <a:spcPts val="1200"/>
              </a:spcAft>
              <a:defRPr sz="2800" b="1">
                <a:solidFill>
                  <a:srgbClr val="0284C7"/>
                </a:solidFill>
              </a:defRPr>
            </a:pPr>
            <a:r>
              <a:t>01</a:t>
            </a:r>
          </a:p>
          <a:p>
            <a:pPr>
              <a:spcAft>
                <a:spcPts val="1000"/>
              </a:spcAft>
              <a:defRPr sz="1400" b="1">
                <a:solidFill>
                  <a:srgbClr val="0F172A"/>
                </a:solidFill>
              </a:defRPr>
            </a:pPr>
            <a:r>
              <a:t>1.033.182 Lulusan Diploma &amp; Sarjana Menganggur</a:t>
            </a:r>
          </a:p>
          <a:p>
            <a:pPr>
              <a:defRPr sz="1100">
                <a:solidFill>
                  <a:srgbClr val="64748B"/>
                </a:solidFill>
              </a:defRPr>
            </a:pPr>
            <a:r>
              <a:t>Data BPS menunjukkan lonjakan pengangguran terdidik akibat ketidaksesuaian (mismatch) kompetensi lulusan dengan kebutuhan riil industri modern.</a:t>
            </a:r>
          </a:p>
        </p:txBody>
      </p:sp>
      <p:sp>
        <p:nvSpPr>
          <p:cNvPr id="6" name="Rounded Rectangle 5"/>
          <p:cNvSpPr/>
          <p:nvPr/>
        </p:nvSpPr>
        <p:spPr>
          <a:xfrm>
            <a:off x="4389120" y="1828800"/>
            <a:ext cx="3383280" cy="41148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63440" y="2103120"/>
            <a:ext cx="2834640" cy="3474720"/>
          </a:xfrm>
          <a:prstGeom prst="rect">
            <a:avLst/>
          </a:prstGeom>
          <a:noFill/>
        </p:spPr>
        <p:txBody>
          <a:bodyPr wrap="square">
            <a:spAutoFit/>
          </a:bodyPr>
          <a:lstStyle/>
          <a:p>
            <a:pPr>
              <a:spcAft>
                <a:spcPts val="1200"/>
              </a:spcAft>
              <a:defRPr sz="2800" b="1">
                <a:solidFill>
                  <a:srgbClr val="0284C7"/>
                </a:solidFill>
              </a:defRPr>
            </a:pPr>
            <a:r>
              <a:t>02</a:t>
            </a:r>
          </a:p>
          <a:p>
            <a:pPr>
              <a:spcAft>
                <a:spcPts val="1000"/>
              </a:spcAft>
              <a:defRPr sz="1400" b="1">
                <a:solidFill>
                  <a:srgbClr val="0F172A"/>
                </a:solidFill>
              </a:defRPr>
            </a:pPr>
            <a:r>
              <a:t>CV &amp; IPK Tidak Mencerminkan Bukti Nyata</a:t>
            </a:r>
          </a:p>
          <a:p>
            <a:pPr>
              <a:defRPr sz="1100">
                <a:solidFill>
                  <a:srgbClr val="64748B"/>
                </a:solidFill>
              </a:defRPr>
            </a:pPr>
            <a:r>
              <a:t>Resume teks rentan 'keyword stuffing' dan inflasi klaim. CV tidak mampu membuktikan apakah seorang lulusan bisa menulis clean code atau mendesain secara profesional.</a:t>
            </a:r>
          </a:p>
        </p:txBody>
      </p:sp>
      <p:sp>
        <p:nvSpPr>
          <p:cNvPr id="8" name="Rounded Rectangle 7"/>
          <p:cNvSpPr/>
          <p:nvPr/>
        </p:nvSpPr>
        <p:spPr>
          <a:xfrm>
            <a:off x="8046720" y="1828800"/>
            <a:ext cx="3383280" cy="41148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21040" y="2103120"/>
            <a:ext cx="2834640" cy="3474720"/>
          </a:xfrm>
          <a:prstGeom prst="rect">
            <a:avLst/>
          </a:prstGeom>
          <a:noFill/>
        </p:spPr>
        <p:txBody>
          <a:bodyPr wrap="square">
            <a:spAutoFit/>
          </a:bodyPr>
          <a:lstStyle/>
          <a:p>
            <a:pPr>
              <a:spcAft>
                <a:spcPts val="1200"/>
              </a:spcAft>
              <a:defRPr sz="2800" b="1">
                <a:solidFill>
                  <a:srgbClr val="0284C7"/>
                </a:solidFill>
              </a:defRPr>
            </a:pPr>
            <a:r>
              <a:t>03</a:t>
            </a:r>
          </a:p>
          <a:p>
            <a:pPr>
              <a:spcAft>
                <a:spcPts val="1000"/>
              </a:spcAft>
              <a:defRPr sz="1400" b="1">
                <a:solidFill>
                  <a:srgbClr val="0F172A"/>
                </a:solidFill>
              </a:defRPr>
            </a:pPr>
            <a:r>
              <a:t>Ketiadaan Umpan Balik Kesiapan yang Terukur</a:t>
            </a:r>
          </a:p>
          <a:p>
            <a:pPr>
              <a:defRPr sz="1100">
                <a:solidFill>
                  <a:srgbClr val="64748B"/>
                </a:solidFill>
              </a:defRPr>
            </a:pPr>
            <a:r>
              <a:t>Mahasiswa sering kali baru menyadari kelemahannya setelah berkali-kali gagal wawancara kerja, tanpa panduan perbaikan yang jelas dan terarah.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38BDF8"/>
                </a:solidFill>
              </a:defRPr>
            </a:pPr>
            <a:r>
              <a:t>SOLUSI UTAMA</a:t>
            </a:r>
          </a:p>
        </p:txBody>
      </p:sp>
      <p:sp>
        <p:nvSpPr>
          <p:cNvPr id="3" name="TextBox 2"/>
          <p:cNvSpPr txBox="1"/>
          <p:nvPr/>
        </p:nvSpPr>
        <p:spPr>
          <a:xfrm>
            <a:off x="731520" y="685800"/>
            <a:ext cx="10698480" cy="731520"/>
          </a:xfrm>
          <a:prstGeom prst="rect">
            <a:avLst/>
          </a:prstGeom>
          <a:noFill/>
        </p:spPr>
        <p:txBody>
          <a:bodyPr wrap="square">
            <a:spAutoFit/>
          </a:bodyPr>
          <a:lstStyle/>
          <a:p>
            <a:pPr>
              <a:defRPr sz="2400" b="1">
                <a:solidFill>
                  <a:srgbClr val="FFFFFF"/>
                </a:solidFill>
              </a:defRPr>
            </a:pPr>
            <a:r>
              <a:t>Siklus Pembelajaran Tertutup (Closed-Loop Learning)</a:t>
            </a:r>
          </a:p>
        </p:txBody>
      </p:sp>
      <p:sp>
        <p:nvSpPr>
          <p:cNvPr id="4" name="Rounded Rectangle 3"/>
          <p:cNvSpPr/>
          <p:nvPr/>
        </p:nvSpPr>
        <p:spPr>
          <a:xfrm>
            <a:off x="731520" y="1645920"/>
            <a:ext cx="10698480" cy="777240"/>
          </a:xfrm>
          <a:prstGeom prst="roundRect">
            <a:avLst/>
          </a:prstGeom>
          <a:solidFill>
            <a:srgbClr val="0F172A"/>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755648"/>
            <a:ext cx="10149840" cy="548640"/>
          </a:xfrm>
          <a:prstGeom prst="rect">
            <a:avLst/>
          </a:prstGeom>
          <a:noFill/>
        </p:spPr>
        <p:txBody>
          <a:bodyPr wrap="square">
            <a:spAutoFit/>
          </a:bodyPr>
          <a:lstStyle/>
          <a:p>
            <a:r>
              <a:rPr b="1" sz="1300">
                <a:solidFill>
                  <a:srgbClr val="38BDF8"/>
                </a:solidFill>
              </a:rPr>
              <a:t>1. Bukti Otentik  ➔  </a:t>
            </a:r>
            <a:r>
              <a:rPr sz="1100">
                <a:solidFill>
                  <a:srgbClr val="E2E8F0"/>
                </a:solidFill>
              </a:rPr>
              <a:t>Kirim repositori GitHub, karya gambar DKV, atau dokumen PDF Pemasaran.</a:t>
            </a:r>
          </a:p>
        </p:txBody>
      </p:sp>
      <p:sp>
        <p:nvSpPr>
          <p:cNvPr id="6" name="Rounded Rectangle 5"/>
          <p:cNvSpPr/>
          <p:nvPr/>
        </p:nvSpPr>
        <p:spPr>
          <a:xfrm>
            <a:off x="731520" y="2560320"/>
            <a:ext cx="10698480" cy="777240"/>
          </a:xfrm>
          <a:prstGeom prst="roundRect">
            <a:avLst/>
          </a:prstGeom>
          <a:solidFill>
            <a:srgbClr val="0F172A"/>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670048"/>
            <a:ext cx="10149840" cy="548640"/>
          </a:xfrm>
          <a:prstGeom prst="rect">
            <a:avLst/>
          </a:prstGeom>
          <a:noFill/>
        </p:spPr>
        <p:txBody>
          <a:bodyPr wrap="square">
            <a:spAutoFit/>
          </a:bodyPr>
          <a:lstStyle/>
          <a:p>
            <a:r>
              <a:rPr b="1" sz="1300">
                <a:solidFill>
                  <a:srgbClr val="38BDF8"/>
                </a:solidFill>
              </a:rPr>
              <a:t>2. Analisis Statis &amp; Visi  ➔  </a:t>
            </a:r>
            <a:r>
              <a:rPr sz="1100">
                <a:solidFill>
                  <a:srgbClr val="E2E8F0"/>
                </a:solidFill>
              </a:rPr>
              <a:t>Ekstraksi teks, metadata git, dan observasi visual multimodal tanpa mengeksekusi kode.</a:t>
            </a:r>
          </a:p>
        </p:txBody>
      </p:sp>
      <p:sp>
        <p:nvSpPr>
          <p:cNvPr id="8" name="Rounded Rectangle 7"/>
          <p:cNvSpPr/>
          <p:nvPr/>
        </p:nvSpPr>
        <p:spPr>
          <a:xfrm>
            <a:off x="731520" y="3474720"/>
            <a:ext cx="10698480" cy="777240"/>
          </a:xfrm>
          <a:prstGeom prst="roundRect">
            <a:avLst/>
          </a:prstGeom>
          <a:solidFill>
            <a:srgbClr val="0F172A"/>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3584448"/>
            <a:ext cx="10149840" cy="548640"/>
          </a:xfrm>
          <a:prstGeom prst="rect">
            <a:avLst/>
          </a:prstGeom>
          <a:noFill/>
        </p:spPr>
        <p:txBody>
          <a:bodyPr wrap="square">
            <a:spAutoFit/>
          </a:bodyPr>
          <a:lstStyle/>
          <a:p>
            <a:r>
              <a:rPr b="1" sz="1300">
                <a:solidFill>
                  <a:srgbClr val="38BDF8"/>
                </a:solidFill>
              </a:rPr>
              <a:t>3. Rubrik 1.1 Berbobot  ➔  </a:t>
            </a:r>
            <a:r>
              <a:rPr sz="1100">
                <a:solidFill>
                  <a:srgbClr val="E2E8F0"/>
                </a:solidFill>
              </a:rPr>
              <a:t>Evaluasi 4 kriteria spesifik bidang. Skor berbobot dihitung server, bukan dikarang model.</a:t>
            </a:r>
          </a:p>
        </p:txBody>
      </p:sp>
      <p:sp>
        <p:nvSpPr>
          <p:cNvPr id="10" name="Rounded Rectangle 9"/>
          <p:cNvSpPr/>
          <p:nvPr/>
        </p:nvSpPr>
        <p:spPr>
          <a:xfrm>
            <a:off x="731520" y="4389120"/>
            <a:ext cx="10698480" cy="777240"/>
          </a:xfrm>
          <a:prstGeom prst="roundRect">
            <a:avLst/>
          </a:prstGeom>
          <a:solidFill>
            <a:srgbClr val="0F172A"/>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498848"/>
            <a:ext cx="10149840" cy="548640"/>
          </a:xfrm>
          <a:prstGeom prst="rect">
            <a:avLst/>
          </a:prstGeom>
          <a:noFill/>
        </p:spPr>
        <p:txBody>
          <a:bodyPr wrap="square">
            <a:spAutoFit/>
          </a:bodyPr>
          <a:lstStyle/>
          <a:p>
            <a:r>
              <a:rPr b="1" sz="1300">
                <a:solidFill>
                  <a:srgbClr val="38BDF8"/>
                </a:solidFill>
              </a:rPr>
              <a:t>4. Kurasi Belajar Terarah  ➔  </a:t>
            </a:r>
            <a:r>
              <a:rPr sz="1100">
                <a:solidFill>
                  <a:srgbClr val="E2E8F0"/>
                </a:solidFill>
              </a:rPr>
              <a:t>3 modul resmi terkurasi (MDN, Next.js, GitHub) langsung memetakan gap terbesar.</a:t>
            </a:r>
          </a:p>
        </p:txBody>
      </p:sp>
      <p:sp>
        <p:nvSpPr>
          <p:cNvPr id="12" name="Rounded Rectangle 11"/>
          <p:cNvSpPr/>
          <p:nvPr/>
        </p:nvSpPr>
        <p:spPr>
          <a:xfrm>
            <a:off x="731520" y="5303520"/>
            <a:ext cx="10698480" cy="777240"/>
          </a:xfrm>
          <a:prstGeom prst="roundRect">
            <a:avLst/>
          </a:prstGeom>
          <a:solidFill>
            <a:srgbClr val="0F172A"/>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413248"/>
            <a:ext cx="10149840" cy="548640"/>
          </a:xfrm>
          <a:prstGeom prst="rect">
            <a:avLst/>
          </a:prstGeom>
          <a:noFill/>
        </p:spPr>
        <p:txBody>
          <a:bodyPr wrap="square">
            <a:spAutoFit/>
          </a:bodyPr>
          <a:lstStyle/>
          <a:p>
            <a:r>
              <a:rPr b="1" sz="1300">
                <a:solidFill>
                  <a:srgbClr val="38BDF8"/>
                </a:solidFill>
              </a:rPr>
              <a:t>5. Wawancara Adaptif &amp; Diff  ➔  </a:t>
            </a:r>
            <a:r>
              <a:rPr sz="1100">
                <a:solidFill>
                  <a:srgbClr val="E2E8F0"/>
                </a:solidFill>
              </a:rPr>
              <a:t>Latihan 5 pertanyaan dari gap nyata, lalu kirim revisi untuk mengukur delta kenaikan (+Δ).</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0284C7"/>
                </a:solidFill>
              </a:defRPr>
            </a:pPr>
            <a:r>
              <a:t>FONDASI TEKNOLOGI</a:t>
            </a:r>
          </a:p>
        </p:txBody>
      </p:sp>
      <p:sp>
        <p:nvSpPr>
          <p:cNvPr id="3" name="TextBox 2"/>
          <p:cNvSpPr txBox="1"/>
          <p:nvPr/>
        </p:nvSpPr>
        <p:spPr>
          <a:xfrm>
            <a:off x="731520" y="685800"/>
            <a:ext cx="10698480" cy="731520"/>
          </a:xfrm>
          <a:prstGeom prst="rect">
            <a:avLst/>
          </a:prstGeom>
          <a:noFill/>
        </p:spPr>
        <p:txBody>
          <a:bodyPr wrap="square">
            <a:spAutoFit/>
          </a:bodyPr>
          <a:lstStyle/>
          <a:p>
            <a:pPr>
              <a:defRPr sz="2400" b="1">
                <a:solidFill>
                  <a:srgbClr val="0F172A"/>
                </a:solidFill>
              </a:defRPr>
            </a:pPr>
            <a:r>
              <a:t>Arsitektur Fullstack Modern &amp; Multi-Model AI Pipeline</a:t>
            </a:r>
          </a:p>
        </p:txBody>
      </p:sp>
      <p:sp>
        <p:nvSpPr>
          <p:cNvPr id="4" name="Rounded Rectangle 3"/>
          <p:cNvSpPr/>
          <p:nvPr/>
        </p:nvSpPr>
        <p:spPr>
          <a:xfrm>
            <a:off x="731520" y="1828800"/>
            <a:ext cx="5212080" cy="2011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2011680"/>
            <a:ext cx="4663440" cy="1645920"/>
          </a:xfrm>
          <a:prstGeom prst="rect">
            <a:avLst/>
          </a:prstGeom>
          <a:noFill/>
        </p:spPr>
        <p:txBody>
          <a:bodyPr wrap="square">
            <a:spAutoFit/>
          </a:bodyPr>
          <a:lstStyle/>
          <a:p>
            <a:pPr>
              <a:spcAft>
                <a:spcPts val="600"/>
              </a:spcAft>
              <a:defRPr sz="1300" b="1">
                <a:solidFill>
                  <a:srgbClr val="0284C7"/>
                </a:solidFill>
              </a:defRPr>
            </a:pPr>
            <a:r>
              <a:t>Frontend &amp; Backend</a:t>
            </a:r>
          </a:p>
          <a:p>
            <a:pPr>
              <a:defRPr sz="1050">
                <a:solidFill>
                  <a:srgbClr val="0F172A"/>
                </a:solidFill>
              </a:defRPr>
            </a:pPr>
            <a:r>
              <a:t>Next.js 16.3 (Turbopack, React 19)</a:t>
            </a:r>
            <a:br/>
            <a:r>
              <a:t>Tailwind CSS v4 (Aksesibel)</a:t>
            </a:r>
            <a:br/>
            <a:r>
              <a:t>Serverless REST API Routes murni tanpa microservice rumit.</a:t>
            </a:r>
          </a:p>
        </p:txBody>
      </p:sp>
      <p:sp>
        <p:nvSpPr>
          <p:cNvPr id="6" name="Rounded Rectangle 5"/>
          <p:cNvSpPr/>
          <p:nvPr/>
        </p:nvSpPr>
        <p:spPr>
          <a:xfrm>
            <a:off x="6217920" y="1828800"/>
            <a:ext cx="5212080" cy="2011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011680"/>
            <a:ext cx="4663440" cy="1645920"/>
          </a:xfrm>
          <a:prstGeom prst="rect">
            <a:avLst/>
          </a:prstGeom>
          <a:noFill/>
        </p:spPr>
        <p:txBody>
          <a:bodyPr wrap="square">
            <a:spAutoFit/>
          </a:bodyPr>
          <a:lstStyle/>
          <a:p>
            <a:pPr>
              <a:spcAft>
                <a:spcPts val="600"/>
              </a:spcAft>
              <a:defRPr sz="1300" b="1">
                <a:solidFill>
                  <a:srgbClr val="0284C7"/>
                </a:solidFill>
              </a:defRPr>
            </a:pPr>
            <a:r>
              <a:t>Model Evaluator Teks</a:t>
            </a:r>
          </a:p>
          <a:p>
            <a:pPr>
              <a:defRPr sz="1050">
                <a:solidFill>
                  <a:srgbClr val="0F172A"/>
                </a:solidFill>
              </a:defRPr>
            </a:pPr>
            <a:r>
              <a:t>openai/gpt-oss-20b (via Groq LPU)</a:t>
            </a:r>
            <a:br/>
            <a:r>
              <a:t>Evaluasi Rubrik 1.1 terstruktur,</a:t>
            </a:r>
            <a:br/>
            <a:r>
              <a:t>kutipan bukti exact fisik,</a:t>
            </a:r>
            <a:br/>
            <a:r>
              <a:t>dan simulasi wawancara adaptif.</a:t>
            </a:r>
          </a:p>
        </p:txBody>
      </p:sp>
      <p:sp>
        <p:nvSpPr>
          <p:cNvPr id="8" name="Rounded Rectangle 7"/>
          <p:cNvSpPr/>
          <p:nvPr/>
        </p:nvSpPr>
        <p:spPr>
          <a:xfrm>
            <a:off x="731520" y="4114800"/>
            <a:ext cx="5212080" cy="2011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4297680"/>
            <a:ext cx="4663440" cy="1645920"/>
          </a:xfrm>
          <a:prstGeom prst="rect">
            <a:avLst/>
          </a:prstGeom>
          <a:noFill/>
        </p:spPr>
        <p:txBody>
          <a:bodyPr wrap="square">
            <a:spAutoFit/>
          </a:bodyPr>
          <a:lstStyle/>
          <a:p>
            <a:pPr>
              <a:spcAft>
                <a:spcPts val="600"/>
              </a:spcAft>
              <a:defRPr sz="1300" b="1">
                <a:solidFill>
                  <a:srgbClr val="0284C7"/>
                </a:solidFill>
              </a:defRPr>
            </a:pPr>
            <a:r>
              <a:t>Model Vision Multimodal</a:t>
            </a:r>
          </a:p>
          <a:p>
            <a:pPr>
              <a:defRPr sz="1050">
                <a:solidFill>
                  <a:srgbClr val="0F172A"/>
                </a:solidFill>
              </a:defRPr>
            </a:pPr>
            <a:r>
              <a:t>qwen/qwen3.8-27b (via Groq LPU)</a:t>
            </a:r>
            <a:br/>
            <a:r>
              <a:t>Observasi 2-stage karya DKV:</a:t>
            </a:r>
            <a:br/>
            <a:r>
              <a:t>konversi gambar visual menjadi elemen data terstruktur sebelum dinilai.</a:t>
            </a:r>
          </a:p>
        </p:txBody>
      </p:sp>
      <p:sp>
        <p:nvSpPr>
          <p:cNvPr id="10" name="Rounded Rectangle 9"/>
          <p:cNvSpPr/>
          <p:nvPr/>
        </p:nvSpPr>
        <p:spPr>
          <a:xfrm>
            <a:off x="6217920" y="4114800"/>
            <a:ext cx="5212080" cy="2011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4297680"/>
            <a:ext cx="4663440" cy="1645920"/>
          </a:xfrm>
          <a:prstGeom prst="rect">
            <a:avLst/>
          </a:prstGeom>
          <a:noFill/>
        </p:spPr>
        <p:txBody>
          <a:bodyPr wrap="square">
            <a:spAutoFit/>
          </a:bodyPr>
          <a:lstStyle/>
          <a:p>
            <a:pPr>
              <a:spcAft>
                <a:spcPts val="600"/>
              </a:spcAft>
              <a:defRPr sz="1300" b="1">
                <a:solidFill>
                  <a:srgbClr val="0284C7"/>
                </a:solidFill>
              </a:defRPr>
            </a:pPr>
            <a:r>
              <a:t>Basis Data &amp; Keamanan</a:t>
            </a:r>
          </a:p>
          <a:p>
            <a:pPr>
              <a:defRPr sz="1050">
                <a:solidFill>
                  <a:srgbClr val="0F172A"/>
                </a:solidFill>
              </a:defRPr>
            </a:pPr>
            <a:r>
              <a:t>Supabase PostgreSQL &amp; Auth</a:t>
            </a:r>
            <a:br/>
            <a:r>
              <a:t>Private Storage Bucket ber-RLS</a:t>
            </a:r>
            <a:br/>
            <a:r>
              <a:t>RPC transaksi pembatasan kuota dan cascade delete.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0284C7"/>
                </a:solidFill>
              </a:defRPr>
            </a:pPr>
            <a:r>
              <a:t>CAKUPAN MULTI-BIDANG</a:t>
            </a:r>
          </a:p>
        </p:txBody>
      </p:sp>
      <p:sp>
        <p:nvSpPr>
          <p:cNvPr id="3" name="TextBox 2"/>
          <p:cNvSpPr txBox="1"/>
          <p:nvPr/>
        </p:nvSpPr>
        <p:spPr>
          <a:xfrm>
            <a:off x="731520" y="685800"/>
            <a:ext cx="10698480" cy="731520"/>
          </a:xfrm>
          <a:prstGeom prst="rect">
            <a:avLst/>
          </a:prstGeom>
          <a:noFill/>
        </p:spPr>
        <p:txBody>
          <a:bodyPr wrap="square">
            <a:spAutoFit/>
          </a:bodyPr>
          <a:lstStyle/>
          <a:p>
            <a:pPr>
              <a:defRPr sz="2400" b="1">
                <a:solidFill>
                  <a:srgbClr val="0F172A"/>
                </a:solidFill>
              </a:defRPr>
            </a:pPr>
            <a:r>
              <a:t>Tiga Disiplin Ilmu dengan Tiga Modalitas Bukti Kerja</a:t>
            </a:r>
          </a:p>
        </p:txBody>
      </p:sp>
      <p:sp>
        <p:nvSpPr>
          <p:cNvPr id="4" name="Rounded Rectangle 3"/>
          <p:cNvSpPr/>
          <p:nvPr/>
        </p:nvSpPr>
        <p:spPr>
          <a:xfrm>
            <a:off x="731520" y="1828800"/>
            <a:ext cx="3383280" cy="4297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2011680"/>
            <a:ext cx="2926080" cy="3931920"/>
          </a:xfrm>
          <a:prstGeom prst="rect">
            <a:avLst/>
          </a:prstGeom>
          <a:noFill/>
        </p:spPr>
        <p:txBody>
          <a:bodyPr wrap="square">
            <a:spAutoFit/>
          </a:bodyPr>
          <a:lstStyle/>
          <a:p>
            <a:pPr>
              <a:spcAft>
                <a:spcPts val="200"/>
              </a:spcAft>
              <a:defRPr sz="1300" b="1">
                <a:solidFill>
                  <a:srgbClr val="0284C7"/>
                </a:solidFill>
              </a:defRPr>
            </a:pPr>
            <a:r>
              <a:t>INFORMATIKA</a:t>
            </a:r>
          </a:p>
          <a:p>
            <a:pPr>
              <a:spcAft>
                <a:spcPts val="1200"/>
              </a:spcAft>
              <a:defRPr sz="1000">
                <a:solidFill>
                  <a:srgbClr val="64748B"/>
                </a:solidFill>
              </a:defRPr>
            </a:pPr>
            <a:r>
              <a:t>Junior Web Developer</a:t>
            </a:r>
            <a:br/>
            <a:r>
              <a:t>Bukti: URL Repositori GitHub</a:t>
            </a:r>
          </a:p>
          <a:p>
            <a:pPr>
              <a:spcAft>
                <a:spcPts val="600"/>
              </a:spcAft>
              <a:defRPr sz="1100" b="1">
                <a:solidFill>
                  <a:srgbClr val="0F172A"/>
                </a:solidFill>
              </a:defRPr>
            </a:pPr>
            <a:r>
              <a:t>Kriteria Rubrik 1.1:</a:t>
            </a:r>
          </a:p>
          <a:p>
            <a:pPr>
              <a:defRPr sz="950">
                <a:solidFill>
                  <a:srgbClr val="0F172A"/>
                </a:solidFill>
              </a:defRPr>
            </a:pPr>
            <a:r>
              <a:t>• Kualitas Kode (Bobot 35%)</a:t>
            </a:r>
          </a:p>
          <a:p>
            <a:pPr>
              <a:defRPr sz="950">
                <a:solidFill>
                  <a:srgbClr val="0F172A"/>
                </a:solidFill>
              </a:defRPr>
            </a:pPr>
            <a:r>
              <a:t>• Struktur Proyek (Bobot 25%)</a:t>
            </a:r>
          </a:p>
          <a:p>
            <a:pPr>
              <a:defRPr sz="950">
                <a:solidFill>
                  <a:srgbClr val="0F172A"/>
                </a:solidFill>
              </a:defRPr>
            </a:pPr>
            <a:r>
              <a:t>• Dokumentasi README (Bobot 20%)</a:t>
            </a:r>
          </a:p>
          <a:p>
            <a:pPr>
              <a:defRPr sz="950">
                <a:solidFill>
                  <a:srgbClr val="0F172A"/>
                </a:solidFill>
              </a:defRPr>
            </a:pPr>
            <a:r>
              <a:t>• Riwayat Kontribusi Git (Bobot 20%)</a:t>
            </a:r>
          </a:p>
        </p:txBody>
      </p:sp>
      <p:sp>
        <p:nvSpPr>
          <p:cNvPr id="6" name="Rounded Rectangle 5"/>
          <p:cNvSpPr/>
          <p:nvPr/>
        </p:nvSpPr>
        <p:spPr>
          <a:xfrm>
            <a:off x="4389120" y="1828800"/>
            <a:ext cx="3383280" cy="4297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17720" y="2011680"/>
            <a:ext cx="2926080" cy="3931920"/>
          </a:xfrm>
          <a:prstGeom prst="rect">
            <a:avLst/>
          </a:prstGeom>
          <a:noFill/>
        </p:spPr>
        <p:txBody>
          <a:bodyPr wrap="square">
            <a:spAutoFit/>
          </a:bodyPr>
          <a:lstStyle/>
          <a:p>
            <a:pPr>
              <a:spcAft>
                <a:spcPts val="200"/>
              </a:spcAft>
              <a:defRPr sz="1300" b="1">
                <a:solidFill>
                  <a:srgbClr val="0284C7"/>
                </a:solidFill>
              </a:defRPr>
            </a:pPr>
            <a:r>
              <a:t>DESAIN KOMUNIKASI VISUAL</a:t>
            </a:r>
          </a:p>
          <a:p>
            <a:pPr>
              <a:spcAft>
                <a:spcPts val="1200"/>
              </a:spcAft>
              <a:defRPr sz="1000">
                <a:solidFill>
                  <a:srgbClr val="64748B"/>
                </a:solidFill>
              </a:defRPr>
            </a:pPr>
            <a:r>
              <a:t>Junior Graphic Designer</a:t>
            </a:r>
            <a:br/>
            <a:r>
              <a:t>Bukti: Gambar PNG/JPG + Deskripsi</a:t>
            </a:r>
          </a:p>
          <a:p>
            <a:pPr>
              <a:spcAft>
                <a:spcPts val="600"/>
              </a:spcAft>
              <a:defRPr sz="1100" b="1">
                <a:solidFill>
                  <a:srgbClr val="0F172A"/>
                </a:solidFill>
              </a:defRPr>
            </a:pPr>
            <a:r>
              <a:t>Kriteria Rubrik 1.1:</a:t>
            </a:r>
          </a:p>
          <a:p>
            <a:pPr>
              <a:defRPr sz="950">
                <a:solidFill>
                  <a:srgbClr val="0F172A"/>
                </a:solidFill>
              </a:defRPr>
            </a:pPr>
            <a:r>
              <a:t>• Konsistensi Visual (Bobot 30%)</a:t>
            </a:r>
          </a:p>
          <a:p>
            <a:pPr>
              <a:defRPr sz="950">
                <a:solidFill>
                  <a:srgbClr val="0F172A"/>
                </a:solidFill>
              </a:defRPr>
            </a:pPr>
            <a:r>
              <a:t>• Proses &amp; Iterasi (Bobot 25%)</a:t>
            </a:r>
          </a:p>
          <a:p>
            <a:pPr>
              <a:defRPr sz="950">
                <a:solidFill>
                  <a:srgbClr val="0F172A"/>
                </a:solidFill>
              </a:defRPr>
            </a:pPr>
            <a:r>
              <a:t>• Narasi &amp; Brief Desain (Bobot 20%)</a:t>
            </a:r>
          </a:p>
          <a:p>
            <a:pPr>
              <a:defRPr sz="950">
                <a:solidFill>
                  <a:srgbClr val="0F172A"/>
                </a:solidFill>
              </a:defRPr>
            </a:pPr>
            <a:r>
              <a:t>• Pemecahan Masalah (Bobot 25%)</a:t>
            </a:r>
          </a:p>
        </p:txBody>
      </p:sp>
      <p:sp>
        <p:nvSpPr>
          <p:cNvPr id="8" name="Rounded Rectangle 7"/>
          <p:cNvSpPr/>
          <p:nvPr/>
        </p:nvSpPr>
        <p:spPr>
          <a:xfrm>
            <a:off x="8046720" y="1828800"/>
            <a:ext cx="3383280" cy="4297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75320" y="2011680"/>
            <a:ext cx="2926080" cy="3931920"/>
          </a:xfrm>
          <a:prstGeom prst="rect">
            <a:avLst/>
          </a:prstGeom>
          <a:noFill/>
        </p:spPr>
        <p:txBody>
          <a:bodyPr wrap="square">
            <a:spAutoFit/>
          </a:bodyPr>
          <a:lstStyle/>
          <a:p>
            <a:pPr>
              <a:spcAft>
                <a:spcPts val="200"/>
              </a:spcAft>
              <a:defRPr sz="1300" b="1">
                <a:solidFill>
                  <a:srgbClr val="0284C7"/>
                </a:solidFill>
              </a:defRPr>
            </a:pPr>
            <a:r>
              <a:t>BISNIS &amp; PEMASARAN</a:t>
            </a:r>
          </a:p>
          <a:p>
            <a:pPr>
              <a:spcAft>
                <a:spcPts val="1200"/>
              </a:spcAft>
              <a:defRPr sz="1000">
                <a:solidFill>
                  <a:srgbClr val="64748B"/>
                </a:solidFill>
              </a:defRPr>
            </a:pPr>
            <a:r>
              <a:t>Junior Digital Marketer</a:t>
            </a:r>
            <a:br/>
            <a:r>
              <a:t>Bukti: Dokumen PDF Laporan Kampanye</a:t>
            </a:r>
          </a:p>
          <a:p>
            <a:pPr>
              <a:spcAft>
                <a:spcPts val="600"/>
              </a:spcAft>
              <a:defRPr sz="1100" b="1">
                <a:solidFill>
                  <a:srgbClr val="0F172A"/>
                </a:solidFill>
              </a:defRPr>
            </a:pPr>
            <a:r>
              <a:t>Kriteria Rubrik 1.1:</a:t>
            </a:r>
          </a:p>
          <a:p>
            <a:pPr>
              <a:defRPr sz="950">
                <a:solidFill>
                  <a:srgbClr val="0F172A"/>
                </a:solidFill>
              </a:defRPr>
            </a:pPr>
            <a:r>
              <a:t>• Metodologi Kampanye (Bobot 25%)</a:t>
            </a:r>
          </a:p>
          <a:p>
            <a:pPr>
              <a:defRPr sz="950">
                <a:solidFill>
                  <a:srgbClr val="0F172A"/>
                </a:solidFill>
              </a:defRPr>
            </a:pPr>
            <a:r>
              <a:t>• Penggunaan Data &amp; Bukti (Bobot 25%)</a:t>
            </a:r>
          </a:p>
          <a:p>
            <a:pPr>
              <a:defRPr sz="950">
                <a:solidFill>
                  <a:srgbClr val="0F172A"/>
                </a:solidFill>
              </a:defRPr>
            </a:pPr>
            <a:r>
              <a:t>• Hasil Terukur: CTR/ROAS (Bobot 30%)</a:t>
            </a:r>
          </a:p>
          <a:p>
            <a:pPr>
              <a:defRPr sz="950">
                <a:solidFill>
                  <a:srgbClr val="0F172A"/>
                </a:solidFill>
              </a:defRPr>
            </a:pPr>
            <a:r>
              <a:t>• Kualitas Laporan &amp; Batasan (Bobot 20%)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38BDF8"/>
                </a:solidFill>
              </a:defRPr>
            </a:pPr>
            <a:r>
              <a:t>VALIDASI &amp; KINERJA</a:t>
            </a:r>
          </a:p>
        </p:txBody>
      </p:sp>
      <p:sp>
        <p:nvSpPr>
          <p:cNvPr id="3" name="TextBox 2"/>
          <p:cNvSpPr txBox="1"/>
          <p:nvPr/>
        </p:nvSpPr>
        <p:spPr>
          <a:xfrm>
            <a:off x="731520" y="685800"/>
            <a:ext cx="10698480" cy="731520"/>
          </a:xfrm>
          <a:prstGeom prst="rect">
            <a:avLst/>
          </a:prstGeom>
          <a:noFill/>
        </p:spPr>
        <p:txBody>
          <a:bodyPr wrap="square">
            <a:spAutoFit/>
          </a:bodyPr>
          <a:lstStyle/>
          <a:p>
            <a:pPr>
              <a:defRPr sz="2400" b="1">
                <a:solidFill>
                  <a:srgbClr val="FFFFFF"/>
                </a:solidFill>
              </a:defRPr>
            </a:pPr>
            <a:r>
              <a:t>Hasil Pengujian Empiris 27 Run Benchmark &amp; Performa</a:t>
            </a:r>
          </a:p>
        </p:txBody>
      </p:sp>
      <p:sp>
        <p:nvSpPr>
          <p:cNvPr id="4" name="Rounded Rectangle 3"/>
          <p:cNvSpPr/>
          <p:nvPr/>
        </p:nvSpPr>
        <p:spPr>
          <a:xfrm>
            <a:off x="731520" y="1828800"/>
            <a:ext cx="3383280" cy="2011680"/>
          </a:xfrm>
          <a:prstGeom prst="roundRect">
            <a:avLst/>
          </a:prstGeom>
          <a:solidFill>
            <a:srgbClr val="0F172A"/>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965960"/>
            <a:ext cx="2926080" cy="1737360"/>
          </a:xfrm>
          <a:prstGeom prst="rect">
            <a:avLst/>
          </a:prstGeom>
          <a:noFill/>
        </p:spPr>
        <p:txBody>
          <a:bodyPr wrap="square">
            <a:spAutoFit/>
          </a:bodyPr>
          <a:lstStyle/>
          <a:p>
            <a:pPr>
              <a:spcAft>
                <a:spcPts val="200"/>
              </a:spcAft>
              <a:defRPr sz="2800" b="1">
                <a:solidFill>
                  <a:srgbClr val="38BDF8"/>
                </a:solidFill>
              </a:defRPr>
            </a:pPr>
            <a:r>
              <a:t>100%</a:t>
            </a:r>
          </a:p>
          <a:p>
            <a:pPr>
              <a:spcAft>
                <a:spcPts val="400"/>
              </a:spcAft>
              <a:defRPr sz="1200" b="1">
                <a:solidFill>
                  <a:srgbClr val="FFFFFF"/>
                </a:solidFill>
              </a:defRPr>
            </a:pPr>
            <a:r>
              <a:t>Kepatuhan Skema</a:t>
            </a:r>
          </a:p>
          <a:p>
            <a:pPr>
              <a:defRPr sz="950">
                <a:solidFill>
                  <a:srgbClr val="CBD5E1"/>
                </a:solidFill>
              </a:defRPr>
            </a:pPr>
            <a:r>
              <a:t>27/27 run menghasilkan JSON terstruktur valid tanpa kegagalan array.</a:t>
            </a:r>
          </a:p>
        </p:txBody>
      </p:sp>
      <p:sp>
        <p:nvSpPr>
          <p:cNvPr id="6" name="Rounded Rectangle 5"/>
          <p:cNvSpPr/>
          <p:nvPr/>
        </p:nvSpPr>
        <p:spPr>
          <a:xfrm>
            <a:off x="4389120" y="1828800"/>
            <a:ext cx="3383280" cy="2011680"/>
          </a:xfrm>
          <a:prstGeom prst="roundRect">
            <a:avLst/>
          </a:prstGeom>
          <a:solidFill>
            <a:srgbClr val="0F172A"/>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17720" y="1965960"/>
            <a:ext cx="2926080" cy="1737360"/>
          </a:xfrm>
          <a:prstGeom prst="rect">
            <a:avLst/>
          </a:prstGeom>
          <a:noFill/>
        </p:spPr>
        <p:txBody>
          <a:bodyPr wrap="square">
            <a:spAutoFit/>
          </a:bodyPr>
          <a:lstStyle/>
          <a:p>
            <a:pPr>
              <a:spcAft>
                <a:spcPts val="200"/>
              </a:spcAft>
              <a:defRPr sz="2800" b="1">
                <a:solidFill>
                  <a:srgbClr val="38BDF8"/>
                </a:solidFill>
              </a:defRPr>
            </a:pPr>
            <a:r>
              <a:t>100%</a:t>
            </a:r>
          </a:p>
          <a:p>
            <a:pPr>
              <a:spcAft>
                <a:spcPts val="400"/>
              </a:spcAft>
              <a:defRPr sz="1200" b="1">
                <a:solidFill>
                  <a:srgbClr val="FFFFFF"/>
                </a:solidFill>
              </a:defRPr>
            </a:pPr>
            <a:r>
              <a:t>Kepatuhan Anchor</a:t>
            </a:r>
          </a:p>
          <a:p>
            <a:pPr>
              <a:defRPr sz="950">
                <a:solidFill>
                  <a:srgbClr val="CBD5E1"/>
                </a:solidFill>
              </a:defRPr>
            </a:pPr>
            <a:r>
              <a:t>108/108 kriteria mematuhi skala diskrit 0, 25, 50, 75, 100.</a:t>
            </a:r>
          </a:p>
        </p:txBody>
      </p:sp>
      <p:sp>
        <p:nvSpPr>
          <p:cNvPr id="8" name="Rounded Rectangle 7"/>
          <p:cNvSpPr/>
          <p:nvPr/>
        </p:nvSpPr>
        <p:spPr>
          <a:xfrm>
            <a:off x="8046720" y="1828800"/>
            <a:ext cx="3383280" cy="2011680"/>
          </a:xfrm>
          <a:prstGeom prst="roundRect">
            <a:avLst/>
          </a:prstGeom>
          <a:solidFill>
            <a:srgbClr val="0F172A"/>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75320" y="1965960"/>
            <a:ext cx="2926080" cy="1737360"/>
          </a:xfrm>
          <a:prstGeom prst="rect">
            <a:avLst/>
          </a:prstGeom>
          <a:noFill/>
        </p:spPr>
        <p:txBody>
          <a:bodyPr wrap="square">
            <a:spAutoFit/>
          </a:bodyPr>
          <a:lstStyle/>
          <a:p>
            <a:pPr>
              <a:spcAft>
                <a:spcPts val="200"/>
              </a:spcAft>
              <a:defRPr sz="2800" b="1">
                <a:solidFill>
                  <a:srgbClr val="38BDF8"/>
                </a:solidFill>
              </a:defRPr>
            </a:pPr>
            <a:r>
              <a:t>1,28</a:t>
            </a:r>
          </a:p>
          <a:p>
            <a:pPr>
              <a:spcAft>
                <a:spcPts val="400"/>
              </a:spcAft>
              <a:defRPr sz="1200" b="1">
                <a:solidFill>
                  <a:srgbClr val="FFFFFF"/>
                </a:solidFill>
              </a:defRPr>
            </a:pPr>
            <a:r>
              <a:t>Rata-rata Std Dev</a:t>
            </a:r>
          </a:p>
          <a:p>
            <a:pPr>
              <a:defRPr sz="950">
                <a:solidFill>
                  <a:srgbClr val="CBD5E1"/>
                </a:solidFill>
              </a:defRPr>
            </a:pPr>
            <a:r>
              <a:t>Stabilitas tinggi antar 3 run pengulangan (6 dari 9 sampel s = 0.0).</a:t>
            </a:r>
          </a:p>
        </p:txBody>
      </p:sp>
      <p:sp>
        <p:nvSpPr>
          <p:cNvPr id="10" name="Rounded Rectangle 9"/>
          <p:cNvSpPr/>
          <p:nvPr/>
        </p:nvSpPr>
        <p:spPr>
          <a:xfrm>
            <a:off x="731520" y="4114800"/>
            <a:ext cx="3383280" cy="2011680"/>
          </a:xfrm>
          <a:prstGeom prst="roundRect">
            <a:avLst/>
          </a:prstGeom>
          <a:solidFill>
            <a:srgbClr val="0F172A"/>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4251960"/>
            <a:ext cx="2926080" cy="1737360"/>
          </a:xfrm>
          <a:prstGeom prst="rect">
            <a:avLst/>
          </a:prstGeom>
          <a:noFill/>
        </p:spPr>
        <p:txBody>
          <a:bodyPr wrap="square">
            <a:spAutoFit/>
          </a:bodyPr>
          <a:lstStyle/>
          <a:p>
            <a:pPr>
              <a:spcAft>
                <a:spcPts val="200"/>
              </a:spcAft>
              <a:defRPr sz="2800" b="1">
                <a:solidFill>
                  <a:srgbClr val="38BDF8"/>
                </a:solidFill>
              </a:defRPr>
            </a:pPr>
            <a:r>
              <a:t>2,78</a:t>
            </a:r>
          </a:p>
          <a:p>
            <a:pPr>
              <a:spcAft>
                <a:spcPts val="400"/>
              </a:spcAft>
              <a:defRPr sz="1200" b="1">
                <a:solidFill>
                  <a:srgbClr val="FFFFFF"/>
                </a:solidFill>
              </a:defRPr>
            </a:pPr>
            <a:r>
              <a:t>MAE vs Manusia</a:t>
            </a:r>
          </a:p>
          <a:p>
            <a:pPr>
              <a:defRPr sz="950">
                <a:solidFill>
                  <a:srgbClr val="CBD5E1"/>
                </a:solidFill>
              </a:defRPr>
            </a:pPr>
            <a:r>
              <a:t>Mean Absolute Error terhadap baseline adjudicated penilai manusia (88,9% exact match).</a:t>
            </a:r>
          </a:p>
        </p:txBody>
      </p:sp>
      <p:sp>
        <p:nvSpPr>
          <p:cNvPr id="12" name="Rounded Rectangle 11"/>
          <p:cNvSpPr/>
          <p:nvPr/>
        </p:nvSpPr>
        <p:spPr>
          <a:xfrm>
            <a:off x="4389120" y="4114800"/>
            <a:ext cx="3383280" cy="2011680"/>
          </a:xfrm>
          <a:prstGeom prst="roundRect">
            <a:avLst/>
          </a:prstGeom>
          <a:solidFill>
            <a:srgbClr val="0F172A"/>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17720" y="4251960"/>
            <a:ext cx="2926080" cy="1737360"/>
          </a:xfrm>
          <a:prstGeom prst="rect">
            <a:avLst/>
          </a:prstGeom>
          <a:noFill/>
        </p:spPr>
        <p:txBody>
          <a:bodyPr wrap="square">
            <a:spAutoFit/>
          </a:bodyPr>
          <a:lstStyle/>
          <a:p>
            <a:pPr>
              <a:spcAft>
                <a:spcPts val="200"/>
              </a:spcAft>
              <a:defRPr sz="2800" b="1">
                <a:solidFill>
                  <a:srgbClr val="38BDF8"/>
                </a:solidFill>
              </a:defRPr>
            </a:pPr>
            <a:r>
              <a:t>8,27s</a:t>
            </a:r>
          </a:p>
          <a:p>
            <a:pPr>
              <a:spcAft>
                <a:spcPts val="400"/>
              </a:spcAft>
              <a:defRPr sz="1200" b="1">
                <a:solidFill>
                  <a:srgbClr val="FFFFFF"/>
                </a:solidFill>
              </a:defRPr>
            </a:pPr>
            <a:r>
              <a:t>Median Latensi</a:t>
            </a:r>
          </a:p>
          <a:p>
            <a:pPr>
              <a:defRPr sz="950">
                <a:solidFill>
                  <a:srgbClr val="CBD5E1"/>
                </a:solidFill>
              </a:defRPr>
            </a:pPr>
            <a:r>
              <a:t>Waktu evaluasi penuh (Informatika 5s, DKV 21s, Marketing 7s).</a:t>
            </a:r>
          </a:p>
        </p:txBody>
      </p:sp>
      <p:sp>
        <p:nvSpPr>
          <p:cNvPr id="14" name="Rounded Rectangle 13"/>
          <p:cNvSpPr/>
          <p:nvPr/>
        </p:nvSpPr>
        <p:spPr>
          <a:xfrm>
            <a:off x="8046720" y="4114800"/>
            <a:ext cx="3383280" cy="2011680"/>
          </a:xfrm>
          <a:prstGeom prst="roundRect">
            <a:avLst/>
          </a:prstGeom>
          <a:solidFill>
            <a:srgbClr val="0F172A"/>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75320" y="4251960"/>
            <a:ext cx="2926080" cy="1737360"/>
          </a:xfrm>
          <a:prstGeom prst="rect">
            <a:avLst/>
          </a:prstGeom>
          <a:noFill/>
        </p:spPr>
        <p:txBody>
          <a:bodyPr wrap="square">
            <a:spAutoFit/>
          </a:bodyPr>
          <a:lstStyle/>
          <a:p>
            <a:pPr>
              <a:spcAft>
                <a:spcPts val="200"/>
              </a:spcAft>
              <a:defRPr sz="2800" b="1">
                <a:solidFill>
                  <a:srgbClr val="38BDF8"/>
                </a:solidFill>
              </a:defRPr>
            </a:pPr>
            <a:r>
              <a:t>Rp 8</a:t>
            </a:r>
          </a:p>
          <a:p>
            <a:pPr>
              <a:spcAft>
                <a:spcPts val="400"/>
              </a:spcAft>
              <a:defRPr sz="1200" b="1">
                <a:solidFill>
                  <a:srgbClr val="FFFFFF"/>
                </a:solidFill>
              </a:defRPr>
            </a:pPr>
            <a:r>
              <a:t>Biaya per Evaluasi</a:t>
            </a:r>
          </a:p>
          <a:p>
            <a:pPr>
              <a:defRPr sz="950">
                <a:solidFill>
                  <a:srgbClr val="CBD5E1"/>
                </a:solidFill>
              </a:defRPr>
            </a:pPr>
            <a:r>
              <a:t>Estimasi biaya Groq LPU ~$0,0005 per penilaian, sangat hemat untuk skala kampus.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0284C7"/>
                </a:solidFill>
              </a:defRPr>
            </a:pPr>
            <a:r>
              <a:t>BUKTI PROTOTIPE</a:t>
            </a:r>
          </a:p>
        </p:txBody>
      </p:sp>
      <p:sp>
        <p:nvSpPr>
          <p:cNvPr id="3" name="TextBox 2"/>
          <p:cNvSpPr txBox="1"/>
          <p:nvPr/>
        </p:nvSpPr>
        <p:spPr>
          <a:xfrm>
            <a:off x="731520" y="685800"/>
            <a:ext cx="10698480" cy="731520"/>
          </a:xfrm>
          <a:prstGeom prst="rect">
            <a:avLst/>
          </a:prstGeom>
          <a:noFill/>
        </p:spPr>
        <p:txBody>
          <a:bodyPr wrap="square">
            <a:spAutoFit/>
          </a:bodyPr>
          <a:lstStyle/>
          <a:p>
            <a:pPr>
              <a:defRPr sz="2400" b="1">
                <a:solidFill>
                  <a:srgbClr val="0F172A"/>
                </a:solidFill>
              </a:defRPr>
            </a:pPr>
            <a:r>
              <a:t>Transparansi Penilaian: Skor Ter-grounding &amp; Selisih (+Δ)</a:t>
            </a:r>
          </a:p>
        </p:txBody>
      </p:sp>
      <p:sp>
        <p:nvSpPr>
          <p:cNvPr id="4" name="TextBox 3"/>
          <p:cNvSpPr txBox="1"/>
          <p:nvPr/>
        </p:nvSpPr>
        <p:spPr>
          <a:xfrm>
            <a:off x="731520" y="1828800"/>
            <a:ext cx="4754880" cy="4297680"/>
          </a:xfrm>
          <a:prstGeom prst="rect">
            <a:avLst/>
          </a:prstGeom>
          <a:noFill/>
        </p:spPr>
        <p:txBody>
          <a:bodyPr wrap="square">
            <a:spAutoFit/>
          </a:bodyPr>
          <a:lstStyle/>
          <a:p>
            <a:pPr>
              <a:spcAft>
                <a:spcPts val="1000"/>
              </a:spcAft>
              <a:defRPr sz="1400" b="1">
                <a:solidFill>
                  <a:srgbClr val="0284C7"/>
                </a:solidFill>
              </a:defRPr>
            </a:pPr>
            <a:r>
              <a:t>Fitur Unggulan Pada Halaman Hasil:</a:t>
            </a:r>
          </a:p>
          <a:p>
            <a:pPr>
              <a:spcAft>
                <a:spcPts val="800"/>
              </a:spcAft>
            </a:pPr>
            <a:r>
              <a:rPr b="1" sz="1050">
                <a:solidFill>
                  <a:srgbClr val="0F172A"/>
                </a:solidFill>
              </a:rPr>
              <a:t>✔ Skor Berbobot Server (50/100): </a:t>
            </a:r>
            <a:r>
              <a:rPr sz="1000">
                <a:solidFill>
                  <a:srgbClr val="64748B"/>
                </a:solidFill>
              </a:rPr>
              <a:t>Dihitung matematis transparan dari 4 kriteria.</a:t>
            </a:r>
          </a:p>
          <a:p>
            <a:pPr>
              <a:spcAft>
                <a:spcPts val="800"/>
              </a:spcAft>
            </a:pPr>
            <a:r>
              <a:rPr b="1" sz="1050">
                <a:solidFill>
                  <a:srgbClr val="0F172A"/>
                </a:solidFill>
              </a:rPr>
              <a:t>✔ Banner Data Demo Terverifikasi: </a:t>
            </a:r>
            <a:r>
              <a:rPr sz="1000">
                <a:solidFill>
                  <a:srgbClr val="64748B"/>
                </a:solidFill>
              </a:rPr>
              <a:t>Menjamin integritas pengujian tanpa klaim palsu.</a:t>
            </a:r>
          </a:p>
          <a:p>
            <a:pPr>
              <a:spcAft>
                <a:spcPts val="800"/>
              </a:spcAft>
            </a:pPr>
            <a:r>
              <a:rPr b="1" sz="1050">
                <a:solidFill>
                  <a:srgbClr val="0F172A"/>
                </a:solidFill>
              </a:rPr>
              <a:t>✔ Kutipan Bukti Fisik: </a:t>
            </a:r>
            <a:r>
              <a:rPr sz="1000">
                <a:solidFill>
                  <a:srgbClr val="64748B"/>
                </a:solidFill>
              </a:rPr>
              <a:t>Penanda exact [FILE:1:L12-L28] &amp; [COMMITS:1] yang dapat diaudit langsung.</a:t>
            </a:r>
          </a:p>
          <a:p>
            <a:pPr>
              <a:spcAft>
                <a:spcPts val="800"/>
              </a:spcAft>
            </a:pPr>
            <a:r>
              <a:rPr b="1" sz="1050">
                <a:solidFill>
                  <a:srgbClr val="0F172A"/>
                </a:solidFill>
              </a:rPr>
              <a:t>✔ Badge Re-assessment Diff (+25 Δ): </a:t>
            </a:r>
            <a:r>
              <a:rPr sz="1000">
                <a:solidFill>
                  <a:srgbClr val="64748B"/>
                </a:solidFill>
              </a:rPr>
              <a:t>Menunjukkan kemajuan setelah kandidat memperbaiki portofolionya.</a:t>
            </a:r>
          </a:p>
          <a:p>
            <a:pPr>
              <a:spcAft>
                <a:spcPts val="800"/>
              </a:spcAft>
            </a:pPr>
            <a:r>
              <a:rPr b="1" sz="1050">
                <a:solidFill>
                  <a:srgbClr val="0F172A"/>
                </a:solidFill>
              </a:rPr>
              <a:t>✔ 3 Modul Belajar Terkurasi: </a:t>
            </a:r>
            <a:r>
              <a:rPr sz="1000">
                <a:solidFill>
                  <a:srgbClr val="64748B"/>
                </a:solidFill>
              </a:rPr>
              <a:t>Menghubungkan gap pengguna langsung ke dokumentasi resmi industri.</a:t>
            </a:r>
          </a:p>
        </p:txBody>
      </p:sp>
      <p:pic>
        <p:nvPicPr>
          <p:cNvPr id="5" name="Picture 4" descr="03_hasil_penilaian_kriteria_bukti.png"/>
          <p:cNvPicPr>
            <a:picLocks noChangeAspect="1"/>
          </p:cNvPicPr>
          <p:nvPr/>
        </p:nvPicPr>
        <p:blipFill>
          <a:blip r:embed="rId2"/>
          <a:stretch>
            <a:fillRect/>
          </a:stretch>
        </p:blipFill>
        <p:spPr>
          <a:xfrm>
            <a:off x="5760720" y="1828800"/>
            <a:ext cx="5669280" cy="55118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0284C7"/>
                </a:solidFill>
              </a:defRPr>
            </a:pPr>
            <a:r>
              <a:t>LATIHAN &amp; UMPAN BALIK</a:t>
            </a:r>
          </a:p>
        </p:txBody>
      </p:sp>
      <p:sp>
        <p:nvSpPr>
          <p:cNvPr id="3" name="TextBox 2"/>
          <p:cNvSpPr txBox="1"/>
          <p:nvPr/>
        </p:nvSpPr>
        <p:spPr>
          <a:xfrm>
            <a:off x="731520" y="685800"/>
            <a:ext cx="10698480" cy="731520"/>
          </a:xfrm>
          <a:prstGeom prst="rect">
            <a:avLst/>
          </a:prstGeom>
          <a:noFill/>
        </p:spPr>
        <p:txBody>
          <a:bodyPr wrap="square">
            <a:spAutoFit/>
          </a:bodyPr>
          <a:lstStyle/>
          <a:p>
            <a:pPr>
              <a:defRPr sz="2400" b="1">
                <a:solidFill>
                  <a:srgbClr val="0F172A"/>
                </a:solidFill>
              </a:defRPr>
            </a:pPr>
            <a:r>
              <a:t>Simulasi Wawancara Adaptif dari Kesenjangan Nyata</a:t>
            </a:r>
          </a:p>
        </p:txBody>
      </p:sp>
      <p:pic>
        <p:nvPicPr>
          <p:cNvPr id="4" name="Picture 3" descr="06_sesi_wawancara_adaptif.png"/>
          <p:cNvPicPr>
            <a:picLocks noChangeAspect="1"/>
          </p:cNvPicPr>
          <p:nvPr/>
        </p:nvPicPr>
        <p:blipFill>
          <a:blip r:embed="rId2"/>
          <a:stretch>
            <a:fillRect/>
          </a:stretch>
        </p:blipFill>
        <p:spPr>
          <a:xfrm>
            <a:off x="731520" y="1828800"/>
            <a:ext cx="5486400" cy="5086350"/>
          </a:xfrm>
          <a:prstGeom prst="rect">
            <a:avLst/>
          </a:prstGeom>
        </p:spPr>
      </p:pic>
      <p:sp>
        <p:nvSpPr>
          <p:cNvPr id="5" name="TextBox 4"/>
          <p:cNvSpPr txBox="1"/>
          <p:nvPr/>
        </p:nvSpPr>
        <p:spPr>
          <a:xfrm>
            <a:off x="6583680" y="1828800"/>
            <a:ext cx="4846320" cy="4297680"/>
          </a:xfrm>
          <a:prstGeom prst="rect">
            <a:avLst/>
          </a:prstGeom>
          <a:noFill/>
        </p:spPr>
        <p:txBody>
          <a:bodyPr wrap="square">
            <a:spAutoFit/>
          </a:bodyPr>
          <a:lstStyle/>
          <a:p>
            <a:pPr>
              <a:spcAft>
                <a:spcPts val="1200"/>
              </a:spcAft>
              <a:defRPr sz="1400" b="1">
                <a:solidFill>
                  <a:srgbClr val="0284C7"/>
                </a:solidFill>
              </a:defRPr>
            </a:pPr>
            <a:r>
              <a:t>Karakteristik Modul Wawancara:</a:t>
            </a:r>
          </a:p>
          <a:p>
            <a:pPr>
              <a:spcAft>
                <a:spcPts val="1000"/>
              </a:spcAft>
            </a:pPr>
            <a:r>
              <a:rPr b="1" sz="1100">
                <a:solidFill>
                  <a:srgbClr val="0F172A"/>
                </a:solidFill>
              </a:rPr>
              <a:t>• Bukan Soal Pilihan Ganda Statis
</a:t>
            </a:r>
            <a:r>
              <a:rPr sz="1000">
                <a:solidFill>
                  <a:srgbClr val="64748B"/>
                </a:solidFill>
              </a:rPr>
              <a:t>Pertanyaan digenerate secara adaptif dari 2 gap terbesar bukti kerja pengguna.</a:t>
            </a:r>
          </a:p>
          <a:p>
            <a:pPr>
              <a:spcAft>
                <a:spcPts val="1000"/>
              </a:spcAft>
            </a:pPr>
            <a:r>
              <a:rPr b="1" sz="1100">
                <a:solidFill>
                  <a:srgbClr val="0F172A"/>
                </a:solidFill>
              </a:rPr>
              <a:t>• Dialog Multi-Turn Berkesinambungan
</a:t>
            </a:r>
            <a:r>
              <a:rPr sz="1000">
                <a:solidFill>
                  <a:srgbClr val="64748B"/>
                </a:solidFill>
              </a:rPr>
              <a:t>Pewawancara AI merespons jawaban kandidat, memberi feedback satu kalimat, lalu melanjutkan ke pertanyaan berikutnya.</a:t>
            </a:r>
          </a:p>
          <a:p>
            <a:pPr>
              <a:spcAft>
                <a:spcPts val="1000"/>
              </a:spcAft>
            </a:pPr>
            <a:r>
              <a:rPr b="1" sz="1100">
                <a:solidFill>
                  <a:srgbClr val="0F172A"/>
                </a:solidFill>
              </a:rPr>
              <a:t>• Persistensi Sesi Database
</a:t>
            </a:r>
            <a:r>
              <a:rPr sz="1000">
                <a:solidFill>
                  <a:srgbClr val="64748B"/>
                </a:solidFill>
              </a:rPr>
              <a:t>Sesi wawancara dicatat di PostgreSQL Supabase (tahan refresh browser).</a:t>
            </a:r>
          </a:p>
          <a:p>
            <a:pPr>
              <a:spcAft>
                <a:spcPts val="1000"/>
              </a:spcAft>
            </a:pPr>
            <a:r>
              <a:rPr b="1" sz="1100">
                <a:solidFill>
                  <a:srgbClr val="0F172A"/>
                </a:solidFill>
              </a:rPr>
              <a:t>• Pemisahan Skor &amp; Batas 5 Pertanyaan
</a:t>
            </a:r>
            <a:r>
              <a:rPr sz="1000">
                <a:solidFill>
                  <a:srgbClr val="64748B"/>
                </a:solidFill>
              </a:rPr>
              <a:t>Feedback wawancara bersifat formatif dan terisolasi dari skor portofolio awal agar evaluasi bukti tetap murni.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38BDF8"/>
                </a:solidFill>
              </a:defRPr>
            </a:pPr>
            <a:r>
              <a:t>KEAMANAN &amp; BATASAN</a:t>
            </a:r>
          </a:p>
        </p:txBody>
      </p:sp>
      <p:sp>
        <p:nvSpPr>
          <p:cNvPr id="3" name="TextBox 2"/>
          <p:cNvSpPr txBox="1"/>
          <p:nvPr/>
        </p:nvSpPr>
        <p:spPr>
          <a:xfrm>
            <a:off x="731520" y="685800"/>
            <a:ext cx="10698480" cy="731520"/>
          </a:xfrm>
          <a:prstGeom prst="rect">
            <a:avLst/>
          </a:prstGeom>
          <a:noFill/>
        </p:spPr>
        <p:txBody>
          <a:bodyPr wrap="square">
            <a:spAutoFit/>
          </a:bodyPr>
          <a:lstStyle/>
          <a:p>
            <a:pPr>
              <a:defRPr sz="2400" b="1">
                <a:solidFill>
                  <a:srgbClr val="FFFFFF"/>
                </a:solidFill>
              </a:defRPr>
            </a:pPr>
            <a:r>
              <a:t>Tata Kelola Keamanan Data, Etika AI, dan Batasan Sistem</a:t>
            </a:r>
          </a:p>
        </p:txBody>
      </p:sp>
      <p:sp>
        <p:nvSpPr>
          <p:cNvPr id="4" name="Rounded Rectangle 3"/>
          <p:cNvSpPr/>
          <p:nvPr/>
        </p:nvSpPr>
        <p:spPr>
          <a:xfrm>
            <a:off x="731520" y="1828800"/>
            <a:ext cx="5212080" cy="2011680"/>
          </a:xfrm>
          <a:prstGeom prst="roundRect">
            <a:avLst/>
          </a:prstGeom>
          <a:solidFill>
            <a:srgbClr val="0F172A"/>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993392"/>
            <a:ext cx="4663440" cy="1645920"/>
          </a:xfrm>
          <a:prstGeom prst="rect">
            <a:avLst/>
          </a:prstGeom>
          <a:noFill/>
        </p:spPr>
        <p:txBody>
          <a:bodyPr wrap="square">
            <a:spAutoFit/>
          </a:bodyPr>
          <a:lstStyle/>
          <a:p>
            <a:pPr>
              <a:spcAft>
                <a:spcPts val="600"/>
              </a:spcAft>
              <a:defRPr sz="1250" b="1">
                <a:solidFill>
                  <a:srgbClr val="38BDF8"/>
                </a:solidFill>
              </a:defRPr>
            </a:pPr>
            <a:r>
              <a:t>28/28 Uji Keamanan Lulus (100%)</a:t>
            </a:r>
          </a:p>
          <a:p>
            <a:pPr>
              <a:defRPr sz="1000">
                <a:solidFill>
                  <a:srgbClr val="E2E8F0"/>
                </a:solidFill>
              </a:defRPr>
            </a:pPr>
            <a:r>
              <a:t>Perlindungan endpoint API 401 Unauthorized, sanitasi magic bytes (%PDF, PNG), penolakan file &gt; 4 MB (HTTP 413), dan pemetaan rate limit 429 Retry-After.</a:t>
            </a:r>
          </a:p>
        </p:txBody>
      </p:sp>
      <p:sp>
        <p:nvSpPr>
          <p:cNvPr id="6" name="Rounded Rectangle 5"/>
          <p:cNvSpPr/>
          <p:nvPr/>
        </p:nvSpPr>
        <p:spPr>
          <a:xfrm>
            <a:off x="6217920" y="1828800"/>
            <a:ext cx="5212080" cy="2011680"/>
          </a:xfrm>
          <a:prstGeom prst="roundRect">
            <a:avLst/>
          </a:prstGeom>
          <a:solidFill>
            <a:srgbClr val="0F172A"/>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993392"/>
            <a:ext cx="4663440" cy="1645920"/>
          </a:xfrm>
          <a:prstGeom prst="rect">
            <a:avLst/>
          </a:prstGeom>
          <a:noFill/>
        </p:spPr>
        <p:txBody>
          <a:bodyPr wrap="square">
            <a:spAutoFit/>
          </a:bodyPr>
          <a:lstStyle/>
          <a:p>
            <a:pPr>
              <a:spcAft>
                <a:spcPts val="600"/>
              </a:spcAft>
              <a:defRPr sz="1250" b="1">
                <a:solidFill>
                  <a:srgbClr val="38BDF8"/>
                </a:solidFill>
              </a:defRPr>
            </a:pPr>
            <a:r>
              <a:t>Zero Runtime Code Execution</a:t>
            </a:r>
          </a:p>
          <a:p>
            <a:pPr>
              <a:defRPr sz="1000">
                <a:solidFill>
                  <a:srgbClr val="E2E8F0"/>
                </a:solidFill>
              </a:defRPr>
            </a:pPr>
            <a:r>
              <a:t>Repositori GitHub pengguna diinspeksi secara statis via REST API. Kode tidak pernah di-clone atau dijalankan pada server untuk mencegah risiko Remote Code Execution (RCE).</a:t>
            </a:r>
          </a:p>
        </p:txBody>
      </p:sp>
      <p:sp>
        <p:nvSpPr>
          <p:cNvPr id="8" name="Rounded Rectangle 7"/>
          <p:cNvSpPr/>
          <p:nvPr/>
        </p:nvSpPr>
        <p:spPr>
          <a:xfrm>
            <a:off x="731520" y="4114800"/>
            <a:ext cx="5212080" cy="2011680"/>
          </a:xfrm>
          <a:prstGeom prst="roundRect">
            <a:avLst/>
          </a:prstGeom>
          <a:solidFill>
            <a:srgbClr val="0F172A"/>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4279392"/>
            <a:ext cx="4663440" cy="1645920"/>
          </a:xfrm>
          <a:prstGeom prst="rect">
            <a:avLst/>
          </a:prstGeom>
          <a:noFill/>
        </p:spPr>
        <p:txBody>
          <a:bodyPr wrap="square">
            <a:spAutoFit/>
          </a:bodyPr>
          <a:lstStyle/>
          <a:p>
            <a:pPr>
              <a:spcAft>
                <a:spcPts val="600"/>
              </a:spcAft>
              <a:defRPr sz="1250" b="1">
                <a:solidFill>
                  <a:srgbClr val="38BDF8"/>
                </a:solidFill>
              </a:defRPr>
            </a:pPr>
            <a:r>
              <a:t>Perlindungan Prompt Injection</a:t>
            </a:r>
          </a:p>
          <a:p>
            <a:pPr>
              <a:defRPr sz="1000">
                <a:solidFill>
                  <a:srgbClr val="E2E8F0"/>
                </a:solidFill>
              </a:defRPr>
            </a:pPr>
            <a:r>
              <a:t>Normalisasi Unicode NFKC menghapus karakter zero-width tersembunyi. Prompt adversarial 'ignore instructions' diblokir sebelum mencapai model.</a:t>
            </a:r>
          </a:p>
        </p:txBody>
      </p:sp>
      <p:sp>
        <p:nvSpPr>
          <p:cNvPr id="10" name="Rounded Rectangle 9"/>
          <p:cNvSpPr/>
          <p:nvPr/>
        </p:nvSpPr>
        <p:spPr>
          <a:xfrm>
            <a:off x="6217920" y="4114800"/>
            <a:ext cx="5212080" cy="2011680"/>
          </a:xfrm>
          <a:prstGeom prst="roundRect">
            <a:avLst/>
          </a:prstGeom>
          <a:solidFill>
            <a:srgbClr val="0F172A"/>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4279392"/>
            <a:ext cx="4663440" cy="1645920"/>
          </a:xfrm>
          <a:prstGeom prst="rect">
            <a:avLst/>
          </a:prstGeom>
          <a:noFill/>
        </p:spPr>
        <p:txBody>
          <a:bodyPr wrap="square">
            <a:spAutoFit/>
          </a:bodyPr>
          <a:lstStyle/>
          <a:p>
            <a:pPr>
              <a:spcAft>
                <a:spcPts val="600"/>
              </a:spcAft>
              <a:defRPr sz="1250" b="1">
                <a:solidFill>
                  <a:srgbClr val="38BDF8"/>
                </a:solidFill>
              </a:defRPr>
            </a:pPr>
            <a:r>
              <a:t>Batasan Sistem yang Jujur</a:t>
            </a:r>
          </a:p>
          <a:p>
            <a:pPr>
              <a:defRPr sz="1000">
                <a:solidFill>
                  <a:srgbClr val="E2E8F0"/>
                </a:solidFill>
              </a:defRPr>
            </a:pPr>
            <a:r>
              <a:t>Evaluasi bersifat indikatif berbasis bukti; sistem tidak memverifikasi kepemilikan mutlak atau menjamin penerimaan kerja. PDF memerlukan text-layer (belum OCR foto scan).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sp>
        <p:nvSpPr>
          <p:cNvPr id="2" name="Rectangle 1"/>
          <p:cNvSpPr/>
          <p:nvPr/>
        </p:nvSpPr>
        <p:spPr>
          <a:xfrm>
            <a:off x="731520" y="1097280"/>
            <a:ext cx="182880" cy="4572000"/>
          </a:xfrm>
          <a:prstGeom prst="rect">
            <a:avLst/>
          </a:prstGeom>
          <a:solidFill>
            <a:srgbClr val="38BDF8"/>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005840"/>
            <a:ext cx="10332720" cy="4754880"/>
          </a:xfrm>
          <a:prstGeom prst="rect">
            <a:avLst/>
          </a:prstGeom>
          <a:noFill/>
        </p:spPr>
        <p:txBody>
          <a:bodyPr wrap="square">
            <a:spAutoFit/>
          </a:bodyPr>
          <a:lstStyle/>
          <a:p>
            <a:pPr>
              <a:spcAft>
                <a:spcPts val="800"/>
              </a:spcAft>
              <a:defRPr sz="1300" b="1">
                <a:solidFill>
                  <a:srgbClr val="38BDF8"/>
                </a:solidFill>
              </a:defRPr>
            </a:pPr>
            <a:r>
              <a:t>PENUTUP &amp; ROADMAP PENGEMBANGAN</a:t>
            </a:r>
          </a:p>
          <a:p>
            <a:pPr>
              <a:spcAft>
                <a:spcPts val="1600"/>
              </a:spcAft>
              <a:defRPr sz="2800" b="1">
                <a:solidFill>
                  <a:srgbClr val="FFFFFF"/>
                </a:solidFill>
              </a:defRPr>
            </a:pPr>
            <a:r>
              <a:t>Siap untuk Demonstrasi Sidang Komprehensif</a:t>
            </a:r>
          </a:p>
          <a:p>
            <a:pPr>
              <a:spcAft>
                <a:spcPts val="400"/>
              </a:spcAft>
              <a:defRPr sz="1400" b="1">
                <a:solidFill>
                  <a:srgbClr val="38BDF8"/>
                </a:solidFill>
              </a:defRPr>
            </a:pPr>
            <a:r>
              <a:t>Kesimpulan Kunci:</a:t>
            </a:r>
          </a:p>
          <a:p>
            <a:pPr>
              <a:spcAft>
                <a:spcPts val="400"/>
              </a:spcAft>
              <a:defRPr sz="1100">
                <a:solidFill>
                  <a:srgbClr val="E2E8F0"/>
                </a:solidFill>
              </a:defRPr>
            </a:pPr>
            <a:r>
              <a:t>1. Berhasil membuktikan alur evaluasi kesiapan kerja berbasis bukti secara utuh pada 3 disiplin ilmu (Informatika, DKV, Marketing).</a:t>
            </a:r>
          </a:p>
          <a:p>
            <a:pPr>
              <a:spcAft>
                <a:spcPts val="400"/>
              </a:spcAft>
              <a:defRPr sz="1100">
                <a:solidFill>
                  <a:srgbClr val="E2E8F0"/>
                </a:solidFill>
              </a:defRPr>
            </a:pPr>
            <a:r>
              <a:t>2. Skema Rubrik 1.1 dan pemisahan observasi visual multimodal menjamin 100% konsistensi skema dan 0% halusinasi kelulusan.</a:t>
            </a:r>
          </a:p>
          <a:p>
            <a:pPr>
              <a:spcAft>
                <a:spcPts val="400"/>
              </a:spcAft>
              <a:defRPr sz="1100">
                <a:solidFill>
                  <a:srgbClr val="E2E8F0"/>
                </a:solidFill>
              </a:defRPr>
            </a:pPr>
            <a:r>
              <a:t>3. Solusi beroperasi secara efisien (latensi ~8 detik, biaya ~Rp 8/asesmen) dan siap diuji coba secara live maupun offline fallback.</a:t>
            </a:r>
          </a:p>
          <a:p>
            <a:br/>
            <a:pPr>
              <a:spcAft>
                <a:spcPts val="400"/>
              </a:spcAft>
              <a:defRPr sz="1200" b="1">
                <a:solidFill>
                  <a:srgbClr val="FFFFFF"/>
                </a:solidFill>
              </a:defRPr>
            </a:pPr>
            <a:r>
              <a:t>Tautan Live Platform &amp; Repositori:</a:t>
            </a:r>
          </a:p>
          <a:p>
            <a:pPr>
              <a:defRPr sz="1100">
                <a:solidFill>
                  <a:srgbClr val="94A3B8"/>
                </a:solidFill>
              </a:defRPr>
            </a:pPr>
            <a:r>
              <a:t>🌐 Live Deployment: https://skillbridge-6ndn.vercel.app</a:t>
            </a:r>
            <a:br/>
            <a:r>
              <a:t>💻 GitHub Repository: https://github.com/rianszzz/skillbridge</a:t>
            </a:r>
            <a:br/>
            <a:br/>
            <a:r>
              <a:t>Terima kasih kepada Dewan Penguji — Kami siap untuk sesi tanya jawab.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